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hook" id="{a13457bf-53f1-18a5-56cd-7790640dd199}">
          <p14:sldIdLst>
            <p14:sldId id="256"/>
          </p14:sldIdLst>
        </p14:section>
        <p14:section name="Show it" id="{8d9372c2-44ad-f43b-89f2-3db557df6989}">
          <p14:sldIdLst>
            <p14:sldId id="257"/>
            <p14:sldId id="258"/>
          </p14:sldIdLst>
        </p14:section>
        <p14:section name="How it works and how well" id="{f9d1a0c9-4fd2-75fc-2758-f9efbb154b67}">
          <p14:sldIdLst>
            <p14:sldId id="259"/>
            <p14:sldId id="260"/>
            <p14:sldId id="261"/>
          </p14:sldIdLst>
        </p14:section>
        <p14:section name="Next and close" id="{03699997-e79f-c220-d983-439058dab84d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to 0:20. Hook. "17,358 South Australians live in residential aged care. Every time one of them moves from bed to chair, a care worker is doing a manual handling task, and body stressing is nearly half of all serious injury claims in that workforce. We built Safe Lift so the plan gets followed before anyone lifts." Then: "Here's Safe Lift in about a minute."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 to 1:30. Click the video to play (no sound: talk over it or let it run). Cues: the numbers (first 20 s); training alone isn't the control (~0:25); MediaPipe is the eyes, Gemma the coach, Snowflake the memory (~0:30); the gate blocks the lift until the plan is met (~0:40); red only after two seconds, then Gemma asks why (~0:50). When it ends: "Now let's do it live."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 to 3:00 (90 s). Leave this slide up while you switch to the laptop. (1) ~15 s: plan photo, Gemma's rules JSON. (2) ~25 s: one trainee in frame, BLOCKED with the block_task call visible; second trainee joins, READY. (3) ~30 s: stoop lift, amber then red after 2 s, beep; Gemma's question; tap the answer (keys 1 to 4). (4) ~20 s: debrief in Nepali or Vietnamese citing the Model Code; flip to the dashboard: ML risk badge, model comparison, SA context tile (17,358). Fallback: the recorded run, same narration.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3:00 to 3:40. "The camera only measures angles. Every decision is Gemma's: it reads the plan, runs the gate with function calls, asks why, and writes the debrief grounded in the Model Code through Cortex Search. Snowflake is the memory: readings stream in, a classifier learns what our trainers label unsafe, and Gemma acts as a second rater so we drop labels where human and Gemma disagree before training."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3:40 to 4:15. "We tested it honestly. On a labelled set of 33 staged sessions the alarm made no errors; it missed the two where a second worker blocked the camera, which is a real limit. Then the Gemma and Snowflake result: on 23 held-out readings, the REBA rule alone matched our trainers 43% of the time, Gemma alone 64%, our first Snowflake model 52%. When Gemma rated every lift as a second rater and we dropped the labels where it and the human disagreed, the retrained Snowflake model reached 74%. Small numbers, but that is Gemma teaching Snowflake. And the gate fails closed: if anything goes wrong, nobody lifts." Don't claim injury prevention.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4:15 to 4:35. "A camera in a care setting raises real questions, so we designed for the training room. Nothing is recorded, Gemma only ever sees a skeleton, and the data points at tasks and plans that need fixing, never at individual workers. Taking it into a real facility would need recorded consent; South Australia's Surveillance Devices Act covers observing a private activity, not just recording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4:35 to 4:50. "Next, we'd pilot with South Australian aged care educators to get real labels. We'd score the whole transfer, not just the back angle, using a validated observation checklist where Gemma pre-fills and the trainer confirms. And we'd run Gemma inside the provider's own Snowflake account or on the device, so care plans never leave the building."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4:50 to 5:00. "Safe Lift: plan first, then lift. It's open source, so any trainer can run it. Thank you." Stop. Take questions with the sources slide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 for Q&amp;A. Don't present it in the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800" y="698500"/>
            <a:ext cx="105664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40C4D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800" y="1016000"/>
            <a:ext cx="10566400" cy="698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800" y="698500"/>
            <a:ext cx="105664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0B6E7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800" y="1016000"/>
            <a:ext cx="10566400" cy="698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CENT">
    <p:bg>
      <p:bgPr>
        <a:solidFill>
          <a:srgbClr val="40C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800" y="698500"/>
            <a:ext cx="105664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800" y="1016000"/>
            <a:ext cx="10566400" cy="698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BLANK">
    <p:bg>
      <p:bgPr>
        <a:solidFill>
          <a:srgbClr val="0C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-1.mp4"/><Relationship Id="rId2" Type="http://schemas.microsoft.com/office/2007/relationships/media" Target="../media/media-2-1.mp4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1270000"/>
            <a:ext cx="609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0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FOR HUMANITY ADELAIDE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651000"/>
            <a:ext cx="6096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Lift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984500"/>
            <a:ext cx="609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0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first. Then lift.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3556000"/>
            <a:ext cx="571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Gemma-coached manual handling trainer for aged care workers.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0" y="1587500"/>
            <a:ext cx="4064000" cy="3048000"/>
          </a:xfrm>
          <a:prstGeom prst="roundRect">
            <a:avLst>
              <a:gd name="adj" fmla="val 5000"/>
            </a:avLst>
          </a:prstGeom>
          <a:solidFill>
            <a:srgbClr val="1520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70800" y="1905000"/>
            <a:ext cx="342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17,358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7670800" y="29210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Australians live in residential aged care.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70800" y="36830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transfer they need is a manual handling task for a care worker.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6350000"/>
            <a:ext cx="1056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names]  ·  github.com/Shezza5071/safe-lift  ·  Based on: AIHW GEN Aged Care Data 2024-25 (CC BY 4.0), via H4H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09600"/>
            <a:ext cx="1056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Lift in 68 seconds</a:t>
            </a:r>
            <a:endParaRPr lang="en-US" sz="2200" dirty="0"/>
          </a:p>
        </p:txBody>
      </p:sp>
      <p:pic>
        <p:nvPicPr>
          <p:cNvPr id="3" name="Safe Lift motion graphic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032000" y="1270000"/>
            <a:ext cx="812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800" y="6985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0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800" y="10160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transfer, four moments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59000"/>
            <a:ext cx="2489200" cy="3556000"/>
          </a:xfrm>
          <a:prstGeom prst="roundRect">
            <a:avLst>
              <a:gd name="adj" fmla="val 6122"/>
            </a:avLst>
          </a:prstGeom>
          <a:solidFill>
            <a:srgbClr val="152033"/>
          </a:solidFill>
          <a:ln/>
        </p:spPr>
      </p:sp>
      <p:sp>
        <p:nvSpPr>
          <p:cNvPr id="5" name="Shape 3"/>
          <p:cNvSpPr/>
          <p:nvPr/>
        </p:nvSpPr>
        <p:spPr>
          <a:xfrm>
            <a:off x="1066800" y="2413000"/>
            <a:ext cx="457200" cy="457200"/>
          </a:xfrm>
          <a:prstGeom prst="ellipse">
            <a:avLst/>
          </a:prstGeom>
          <a:solidFill>
            <a:srgbClr val="F6AD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6800" y="241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66800" y="3048000"/>
            <a:ext cx="1981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reads the plan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66800" y="3810000"/>
            <a:ext cx="1981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of a synthetic plan becomes rules: hoist, 2 staff, no manual lift.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05200" y="2159000"/>
            <a:ext cx="2489200" cy="3556000"/>
          </a:xfrm>
          <a:prstGeom prst="roundRect">
            <a:avLst>
              <a:gd name="adj" fmla="val 6122"/>
            </a:avLst>
          </a:prstGeom>
          <a:solidFill>
            <a:srgbClr val="152033"/>
          </a:solidFill>
          <a:ln/>
        </p:spPr>
      </p:sp>
      <p:sp>
        <p:nvSpPr>
          <p:cNvPr id="10" name="Shape 8"/>
          <p:cNvSpPr/>
          <p:nvPr/>
        </p:nvSpPr>
        <p:spPr>
          <a:xfrm>
            <a:off x="3759200" y="2413000"/>
            <a:ext cx="457200" cy="457200"/>
          </a:xfrm>
          <a:prstGeom prst="ellipse">
            <a:avLst/>
          </a:prstGeom>
          <a:solidFill>
            <a:srgbClr val="EB48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59200" y="241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759200" y="3048000"/>
            <a:ext cx="1981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blocks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759200" y="3810000"/>
            <a:ext cx="1981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“Plan says 2 staff, 1 seen.” The function call shows on screen. A second trainee walks in: unlocked.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7600" y="2159000"/>
            <a:ext cx="2489200" cy="3556000"/>
          </a:xfrm>
          <a:prstGeom prst="roundRect">
            <a:avLst>
              <a:gd name="adj" fmla="val 6122"/>
            </a:avLst>
          </a:prstGeom>
          <a:solidFill>
            <a:srgbClr val="152033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600" y="2413000"/>
            <a:ext cx="457200" cy="457200"/>
          </a:xfrm>
          <a:prstGeom prst="ellipse">
            <a:avLst/>
          </a:prstGeom>
          <a:solidFill>
            <a:srgbClr val="40C4D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51600" y="241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51600" y="3048000"/>
            <a:ext cx="1981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bad lift goes red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51600" y="3810000"/>
            <a:ext cx="1981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only after 2 seconds held. Gemma looks at the skeleton and asks a specific question.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90000" y="2159000"/>
            <a:ext cx="2489200" cy="3556000"/>
          </a:xfrm>
          <a:prstGeom prst="roundRect">
            <a:avLst>
              <a:gd name="adj" fmla="val 6122"/>
            </a:avLst>
          </a:prstGeom>
          <a:solidFill>
            <a:srgbClr val="152033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0" y="2413000"/>
            <a:ext cx="457200" cy="457200"/>
          </a:xfrm>
          <a:prstGeom prst="ellipse">
            <a:avLst/>
          </a:prstGeom>
          <a:solidFill>
            <a:srgbClr val="34C77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0" y="241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3048000"/>
            <a:ext cx="1981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 and dashboard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810000"/>
            <a:ext cx="1981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cited debrief in the trainee’s language, then the trainer’s view in Snowflake.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12800" y="6350000"/>
            <a:ext cx="1056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camera fails: play the recorded backup run and keep narrating.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800" y="6985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800" y="10160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camera measures. Gemma reasons. Snowflake learns.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540000"/>
            <a:ext cx="5130800" cy="3302000"/>
          </a:xfrm>
          <a:prstGeom prst="roundRect">
            <a:avLst>
              <a:gd name="adj" fmla="val 4615"/>
            </a:avLst>
          </a:prstGeom>
          <a:solidFill>
            <a:srgbClr val="FBFCFD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7600" y="2794000"/>
            <a:ext cx="4521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4: five jobs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17600" y="3238500"/>
            <a:ext cx="45212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plan photo into rules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setup gate with function calls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why after a red alarm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a cited debrief in the trainee’s language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Second-rates every lift to clean ML labels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400" y="2540000"/>
            <a:ext cx="5130800" cy="3302000"/>
          </a:xfrm>
          <a:prstGeom prst="roundRect">
            <a:avLst>
              <a:gd name="adj" fmla="val 4615"/>
            </a:avLst>
          </a:prstGeom>
          <a:solidFill>
            <a:srgbClr val="FBFCFD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200" y="2794000"/>
            <a:ext cx="4521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Snowflake: the memory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53200" y="3238500"/>
            <a:ext cx="45212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Readings stream in every 2 seconds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Cortex Search over official guidance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classifier learns what trainers call unsafe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dashboard, plus live research evidence from the Marketplace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H4H open data for SA context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6350000"/>
            <a:ext cx="1056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pose runs on the laptop. Only angles and skeleton drawings leave it, never video.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800" y="6985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0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WORK?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800" y="10160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Tested, with the limits stated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59000"/>
            <a:ext cx="3384550" cy="3683000"/>
          </a:xfrm>
          <a:prstGeom prst="roundRect">
            <a:avLst>
              <a:gd name="adj" fmla="val 4503"/>
            </a:avLst>
          </a:prstGeom>
          <a:solidFill>
            <a:srgbClr val="1520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7600" y="2476500"/>
            <a:ext cx="2774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34C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33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117600" y="3365500"/>
            <a:ext cx="27749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errors on a labelled test set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17600" y="4191000"/>
            <a:ext cx="277495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staged lifts. Precision 1.00, recall 0.83: the 2 misses are a body hidden from the camera.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0550" y="2159000"/>
            <a:ext cx="3384550" cy="3683000"/>
          </a:xfrm>
          <a:prstGeom prst="roundRect">
            <a:avLst>
              <a:gd name="adj" fmla="val 4503"/>
            </a:avLst>
          </a:prstGeom>
          <a:solidFill>
            <a:srgbClr val="1520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5350" y="2476500"/>
            <a:ext cx="2774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6AD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705350" y="3365500"/>
            <a:ext cx="27749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when Gemma cleans the labels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05350" y="4191000"/>
            <a:ext cx="277495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held-out readings: Snowflake ML v2 74%, Gemma alone 64%, ML v1 52%, REBA rule 43%.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88300" y="2159000"/>
            <a:ext cx="3384550" cy="3683000"/>
          </a:xfrm>
          <a:prstGeom prst="roundRect">
            <a:avLst>
              <a:gd name="adj" fmla="val 4503"/>
            </a:avLst>
          </a:prstGeom>
          <a:solidFill>
            <a:srgbClr val="1520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3100" y="2476500"/>
            <a:ext cx="27749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0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293100" y="3365500"/>
            <a:ext cx="27749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 gate fails safe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93100" y="4191000"/>
            <a:ext cx="277495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error, timeout or empty reply keeps the lift blocked.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350000"/>
            <a:ext cx="1056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lifts, small labelled sets, one 2D camera (about 5 to 10° error): evidence the pipeline works, not proof it prevents injury.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800" y="6985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 TRAINING ROOM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800" y="10160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Coaching, not surveillance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540000"/>
            <a:ext cx="3384550" cy="2794000"/>
          </a:xfrm>
          <a:prstGeom prst="roundRect">
            <a:avLst>
              <a:gd name="adj" fmla="val 5455"/>
            </a:avLst>
          </a:prstGeom>
          <a:solidFill>
            <a:srgbClr val="FBFCFD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7600" y="2857500"/>
            <a:ext cx="2774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only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7600" y="3429000"/>
            <a:ext cx="277495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video is saved. Gemma sees a stick figure, never a person.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0550" y="2540000"/>
            <a:ext cx="3384550" cy="2794000"/>
          </a:xfrm>
          <a:prstGeom prst="roundRect">
            <a:avLst>
              <a:gd name="adj" fmla="val 5455"/>
            </a:avLst>
          </a:prstGeom>
          <a:solidFill>
            <a:srgbClr val="FBFCFD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5350" y="2857500"/>
            <a:ext cx="2774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first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05350" y="3429000"/>
            <a:ext cx="277495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Training-room mode by default. Synthetic plans, consenting adults, no residents.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88300" y="2540000"/>
            <a:ext cx="3384550" cy="2794000"/>
          </a:xfrm>
          <a:prstGeom prst="roundRect">
            <a:avLst>
              <a:gd name="adj" fmla="val 5455"/>
            </a:avLst>
          </a:prstGeom>
          <a:solidFill>
            <a:srgbClr val="FBFCFD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93100" y="2857500"/>
            <a:ext cx="2774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task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93100" y="3429000"/>
            <a:ext cx="277495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 by task and plan, never worker rankings or discipline.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6350000"/>
            <a:ext cx="1056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care settings would need recorded consent: the Surveillance Devices Act 2016 (SA) covers observing, not just recording.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800" y="6985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800" y="10160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hackathon to a pilot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540000"/>
            <a:ext cx="3384550" cy="3175000"/>
          </a:xfrm>
          <a:prstGeom prst="roundRect">
            <a:avLst>
              <a:gd name="adj" fmla="val 4800"/>
            </a:avLst>
          </a:prstGeom>
          <a:solidFill>
            <a:srgbClr val="0C142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7600" y="2857500"/>
            <a:ext cx="27749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SA educators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7600" y="3746500"/>
            <a:ext cx="277495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trainer labels across many workers, then retrain the model.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0550" y="2540000"/>
            <a:ext cx="3384550" cy="3175000"/>
          </a:xfrm>
          <a:prstGeom prst="roundRect">
            <a:avLst>
              <a:gd name="adj" fmla="val 4800"/>
            </a:avLst>
          </a:prstGeom>
          <a:solidFill>
            <a:srgbClr val="0C14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5350" y="2857500"/>
            <a:ext cx="27749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the whole transfer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05350" y="3746500"/>
            <a:ext cx="277495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validated 16-item observation checklist (DINO), pre-filled by Gemma, confirmed by the trainer.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88300" y="2540000"/>
            <a:ext cx="3384550" cy="3175000"/>
          </a:xfrm>
          <a:prstGeom prst="roundRect">
            <a:avLst>
              <a:gd name="adj" fmla="val 4800"/>
            </a:avLst>
          </a:prstGeom>
          <a:solidFill>
            <a:srgbClr val="0C14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93100" y="2857500"/>
            <a:ext cx="277495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data at home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93100" y="3746500"/>
            <a:ext cx="277495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inside the provider’s Snowflake, or on the device, so care plans never leave.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1651000"/>
            <a:ext cx="105664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E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Lift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984500"/>
            <a:ext cx="10566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0C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first. Then lift.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9370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 ·  Gemma 4  ·  Snowflake  ·  open source, MIT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github.com/Shezza5071/safe-lift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6350000"/>
            <a:ext cx="1056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2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aid only, not a safety device or medical advice. Always follow the resident’s plan and your employer’s procedures.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800" y="6985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QUESTIONS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800" y="1016000"/>
            <a:ext cx="105664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C1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credits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2095500"/>
            <a:ext cx="105664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17,358 in SA residential aged care at 30 June 2025: based on AIHW, GEN Aged Care Data, People using aged care by region 2024-25, CC BY 4.0 (H4H set A2, summarised to SA totals)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47.6% body stressing: Safe Work Australia, WHS profile: nursing, care and support workforce (May 2025; average since 2012-13)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 of SA body-stressing claims from health care and social assistance: SafeWork SA, 21 October 2024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comparison: Safe Lift MODEL_COMPARE, 23 held-out staged readings, 30 October 2026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alone: Cochrane review CD005958.pub3. Hierarchy of controls: Model Code of Practice: Hazardous manual tasks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bands: REBA, Hignett and McAtamney (2000), Applied Ergonomics 31(2):201-205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checklist: DINO, Johnsson et al. (2004), Applied Ergonomics 35(6):591-601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(Gemma terms) · MediaPipe (Apache 2.0) · Snowflake · Safe Lift code MIT. Test data in the repo is synthetic.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Lift pitch</dc:title>
  <dc:subject>Hack for Humanity Adelaide 2026</dc:subject>
  <dc:creator>PptxGenJS</dc:creator>
  <cp:lastModifiedBy>PptxGenJS</cp:lastModifiedBy>
  <cp:revision>1</cp:revision>
  <dcterms:created xsi:type="dcterms:W3CDTF">2026-10-30T08:05:30Z</dcterms:created>
  <dcterms:modified xsi:type="dcterms:W3CDTF">2026-10-30T08:05:30Z</dcterms:modified>
</cp:coreProperties>
</file>